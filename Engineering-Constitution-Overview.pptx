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F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253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E88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VERSION 1.2.0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Georgia"/>
              </a:rPr>
              <a:t>The Engineering Constitution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63240"/>
            <a:ext cx="2011680" cy="3810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1">
                <a:solidFill>
                  <a:srgbClr val="D7DCF2"/>
                </a:solidFill>
                <a:latin typeface="Georgia"/>
              </a:rPr>
              <a:t>Making quality systematic instead of heroic.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An overview for engineers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B9BED6"/>
                </a:solidFill>
                <a:latin typeface="Segoe UI"/>
              </a:rPr>
              <a:t>Eliassen Group  ·  JavaScript / TypeScript delivery teams  ·  Human + AI, identical 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437376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6B6A"/>
                </a:solidFill>
                <a:latin typeface="Segoe UI"/>
              </a:rP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240"/>
                </a:solidFill>
                <a:latin typeface="Georgia"/>
              </a:rPr>
              <a:t>What is the Engineering Constitution?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280160" cy="3810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691640"/>
            <a:ext cx="6400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C2240"/>
                </a:solidFill>
                <a:latin typeface="Segoe UI"/>
              </a:rPr>
              <a:t>A shared rulebook for how we build software — for </a:t>
            </a:r>
            <a:r>
              <a:rPr sz="1600" b="1" i="0">
                <a:solidFill>
                  <a:srgbClr val="1C2240"/>
                </a:solidFill>
                <a:latin typeface="Segoe UI"/>
              </a:rPr>
              <a:t>20–50 distributed engineers</a:t>
            </a:r>
            <a:r>
              <a:rPr sz="1600" b="0" i="0">
                <a:solidFill>
                  <a:srgbClr val="1C2240"/>
                </a:solidFill>
                <a:latin typeface="Segoe UI"/>
              </a:rPr>
              <a:t> working with AI assistance across client engagements.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 i="0">
                <a:solidFill>
                  <a:srgbClr val="1C224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C2240"/>
                </a:solidFill>
                <a:latin typeface="Segoe UI"/>
              </a:rPr>
              <a:t>Standards here are not aspirations. They are numbered, versioned </a:t>
            </a:r>
            <a:r>
              <a:rPr sz="1600" b="1" i="0">
                <a:solidFill>
                  <a:srgbClr val="2E3F95"/>
                </a:solidFill>
                <a:latin typeface="Segoe UI"/>
              </a:rPr>
              <a:t>Laws</a:t>
            </a:r>
            <a:r>
              <a:rPr sz="1600" b="0" i="0">
                <a:solidFill>
                  <a:srgbClr val="1C2240"/>
                </a:solidFill>
                <a:latin typeface="Segoe UI"/>
              </a:rPr>
              <a:t> — citable by ID, enforced by tooling, personas, and review, and changeable only through a recorded amendment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" y="3977639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3977639"/>
            <a:ext cx="3611880" cy="406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39" y="4233671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2240"/>
                </a:solidFill>
                <a:latin typeface="Georgia"/>
              </a:rPr>
              <a:t>Citable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39" y="4818887"/>
            <a:ext cx="30998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17E"/>
                </a:solidFill>
                <a:latin typeface="Segoe UI"/>
              </a:rPr>
              <a:t>Every rule has an ID like LAW-2.3 — quote it in any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7" y="3977639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7" y="3977639"/>
            <a:ext cx="3611880" cy="40640"/>
          </a:xfrm>
          <a:prstGeom prst="rect">
            <a:avLst/>
          </a:prstGeom>
          <a:solidFill>
            <a:srgbClr val="D9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19" y="4233671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2240"/>
                </a:solidFill>
                <a:latin typeface="Georgia"/>
              </a:rPr>
              <a:t>Enforced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4818887"/>
            <a:ext cx="30998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17E"/>
                </a:solidFill>
                <a:latin typeface="Segoe UI"/>
              </a:rPr>
              <a:t>Tooling, personas, and review gates apply the laws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7" y="3977639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7" y="3977639"/>
            <a:ext cx="3611880" cy="40640"/>
          </a:xfrm>
          <a:prstGeom prst="rect">
            <a:avLst/>
          </a:prstGeom>
          <a:solidFill>
            <a:srgbClr val="0E7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9" y="4233671"/>
            <a:ext cx="309981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2240"/>
                </a:solidFill>
                <a:latin typeface="Georgia"/>
              </a:rPr>
              <a:t>Binds AI too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4818887"/>
            <a:ext cx="30998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17E"/>
                </a:solidFill>
                <a:latin typeface="Segoe UI"/>
              </a:rPr>
              <a:t>Human engineers and AI agents are held to identical standards (LAW-7.4).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C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ELIASSEN GROUP  ·  ENGINEERING CONSTITUTION v1.2.0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437376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6B6A"/>
                </a:solidFill>
                <a:latin typeface="Segoe UI"/>
              </a:rPr>
              <a:t>THE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240"/>
                </a:solidFill>
                <a:latin typeface="Georgia"/>
              </a:rPr>
              <a:t>Six failures we kept paying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280160" cy="3810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7" y="1783080"/>
            <a:ext cx="361188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207" y="1783080"/>
            <a:ext cx="3611880" cy="40640"/>
          </a:xfrm>
          <a:prstGeom prst="rect">
            <a:avLst/>
          </a:prstGeom>
          <a:solidFill>
            <a:srgbClr val="E88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1" y="19659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96B6A"/>
                </a:solidFill>
                <a:latin typeface="Segoe UI"/>
              </a:rPr>
              <a:t>1.  </a:t>
            </a:r>
            <a:r>
              <a:rPr sz="1500" b="1" i="0">
                <a:solidFill>
                  <a:srgbClr val="1C2240"/>
                </a:solidFill>
                <a:latin typeface="Segoe UI"/>
              </a:rPr>
              <a:t>Review bottlenecks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" y="238658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Slow, inconsistent, frequently superficial reviews.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7" y="1783080"/>
            <a:ext cx="361188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7" y="1783080"/>
            <a:ext cx="3611880" cy="40640"/>
          </a:xfrm>
          <a:prstGeom prst="rect">
            <a:avLst/>
          </a:prstGeom>
          <a:solidFill>
            <a:srgbClr val="E88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9659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96B6A"/>
                </a:solidFill>
                <a:latin typeface="Segoe UI"/>
              </a:rPr>
              <a:t>2.  </a:t>
            </a:r>
            <a:r>
              <a:rPr sz="1500" b="1" i="0">
                <a:solidFill>
                  <a:srgbClr val="1C2240"/>
                </a:solidFill>
                <a:latin typeface="Segoe UI"/>
              </a:rPr>
              <a:t>Inconsistent standards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38658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Every project its own dialect.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02167" y="1783080"/>
            <a:ext cx="361188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02167" y="1783080"/>
            <a:ext cx="3611880" cy="40640"/>
          </a:xfrm>
          <a:prstGeom prst="rect">
            <a:avLst/>
          </a:prstGeom>
          <a:solidFill>
            <a:srgbClr val="E88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19659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96B6A"/>
                </a:solidFill>
                <a:latin typeface="Segoe UI"/>
              </a:rPr>
              <a:t>3.  </a:t>
            </a:r>
            <a:r>
              <a:rPr sz="1500" b="1" i="0">
                <a:solidFill>
                  <a:srgbClr val="1C2240"/>
                </a:solidFill>
                <a:latin typeface="Segoe UI"/>
              </a:rPr>
              <a:t>Low test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2386584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Incidents living in untested paths.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" y="3282696"/>
            <a:ext cx="361188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7" y="3282696"/>
            <a:ext cx="3611880" cy="40640"/>
          </a:xfrm>
          <a:prstGeom prst="rect">
            <a:avLst/>
          </a:prstGeom>
          <a:solidFill>
            <a:srgbClr val="E88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" y="3465576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96B6A"/>
                </a:solidFill>
                <a:latin typeface="Segoe UI"/>
              </a:rPr>
              <a:t>4.  </a:t>
            </a:r>
            <a:r>
              <a:rPr sz="1500" b="1" i="0">
                <a:solidFill>
                  <a:srgbClr val="1C2240"/>
                </a:solidFill>
                <a:latin typeface="Segoe UI"/>
              </a:rPr>
              <a:t>Security vulnerabilities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" y="388620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Injection, leaked secrets, vulnerable deps reaching prod.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1687" y="3282696"/>
            <a:ext cx="361188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1687" y="3282696"/>
            <a:ext cx="3611880" cy="40640"/>
          </a:xfrm>
          <a:prstGeom prst="rect">
            <a:avLst/>
          </a:prstGeom>
          <a:solidFill>
            <a:srgbClr val="E88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3465576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96B6A"/>
                </a:solidFill>
                <a:latin typeface="Segoe UI"/>
              </a:rPr>
              <a:t>5.  </a:t>
            </a:r>
            <a:r>
              <a:rPr sz="1500" b="1" i="0">
                <a:solidFill>
                  <a:srgbClr val="1C2240"/>
                </a:solidFill>
                <a:latin typeface="Segoe UI"/>
              </a:rPr>
              <a:t>Poor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388620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Intent living in heads and chat threads.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02167" y="3282696"/>
            <a:ext cx="361188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02167" y="3282696"/>
            <a:ext cx="3611880" cy="40640"/>
          </a:xfrm>
          <a:prstGeom prst="rect">
            <a:avLst/>
          </a:prstGeom>
          <a:solidFill>
            <a:srgbClr val="E88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9911" y="3465576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D96B6A"/>
                </a:solidFill>
                <a:latin typeface="Segoe UI"/>
              </a:rPr>
              <a:t>6.  </a:t>
            </a:r>
            <a:r>
              <a:rPr sz="1500" b="1" i="0">
                <a:solidFill>
                  <a:srgbClr val="1C2240"/>
                </a:solidFill>
                <a:latin typeface="Segoe UI"/>
              </a:rPr>
              <a:t>Unaddressed tech debt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1" y="388620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“Later” never arriving.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1">
                <a:solidFill>
                  <a:srgbClr val="2E3F95"/>
                </a:solidFill>
                <a:latin typeface="Georgia"/>
              </a:rPr>
              <a:t>Every law's rationale traces back to one or more of these.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C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7315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ELIASSEN GROUP  ·  ENGINEERING CONSTITUTION v1.2.0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437376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6B6A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240"/>
                </a:solidFill>
                <a:latin typeface="Georgia"/>
              </a:rPr>
              <a:t>Laws → Articles → Citations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280160" cy="3810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645920"/>
            <a:ext cx="52120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C2240"/>
                </a:solidFill>
                <a:latin typeface="Segoe UI"/>
              </a:rPr>
              <a:t>Each law is one file with a quotable </a:t>
            </a:r>
            <a:r>
              <a:rPr sz="1500" b="1" i="0">
                <a:solidFill>
                  <a:srgbClr val="1C2240"/>
                </a:solidFill>
                <a:latin typeface="Segoe UI"/>
              </a:rPr>
              <a:t>Statement</a:t>
            </a:r>
            <a:r>
              <a:rPr sz="1500" b="0" i="0">
                <a:solidFill>
                  <a:srgbClr val="1C2240"/>
                </a:solidFill>
                <a:latin typeface="Segoe UI"/>
              </a:rPr>
              <a:t>, a </a:t>
            </a:r>
            <a:r>
              <a:rPr sz="1500" b="1" i="0">
                <a:solidFill>
                  <a:srgbClr val="1C2240"/>
                </a:solidFill>
                <a:latin typeface="Segoe UI"/>
              </a:rPr>
              <a:t>Rationale</a:t>
            </a:r>
            <a:r>
              <a:rPr sz="1500" b="0" i="0">
                <a:solidFill>
                  <a:srgbClr val="1C2240"/>
                </a:solidFill>
                <a:latin typeface="Segoe UI"/>
              </a:rPr>
              <a:t> (the WHY), examples, and amendment history.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C224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C2240"/>
                </a:solidFill>
                <a:latin typeface="Segoe UI"/>
              </a:rPr>
              <a:t>45 laws are grouped into </a:t>
            </a:r>
            <a:r>
              <a:rPr sz="1500" b="1" i="0">
                <a:solidFill>
                  <a:srgbClr val="2E3F95"/>
                </a:solidFill>
                <a:latin typeface="Segoe UI"/>
              </a:rPr>
              <a:t>Ten Articles</a:t>
            </a:r>
            <a:r>
              <a:rPr sz="1500" b="0" i="0">
                <a:solidFill>
                  <a:srgbClr val="1C2240"/>
                </a:solidFill>
                <a:latin typeface="Segoe UI"/>
              </a:rPr>
              <a:t>. Decisions are articulated as citations so anyone can trace the reasoning.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1C2240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B617E"/>
                </a:solidFill>
                <a:latin typeface="Segoe UI"/>
              </a:rPr>
              <a:t>Look up any law: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5337C"/>
                </a:solidFill>
                <a:latin typeface="Consolas"/>
              </a:rPr>
              <a:t>./scripts/law-lookup.sh LAW-2.3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623560" cy="3657600"/>
          </a:xfrm>
          <a:prstGeom prst="roundRect">
            <a:avLst/>
          </a:prstGeom>
          <a:solidFill>
            <a:srgbClr val="1C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0" y="1645920"/>
            <a:ext cx="5623560" cy="4064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49834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7E"/>
                </a:solidFill>
                <a:latin typeface="Consolas"/>
              </a:rPr>
              <a:t>DECISION: 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Rejecting use of `any` in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payment-service.ts line 47.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9A662"/>
                </a:solidFill>
                <a:latin typeface="Consolas"/>
              </a:rPr>
              <a:t>CITATION: 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[LAW-2.3 v1.0] “The `any`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type is prohibited. Use `unknown` with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type narrowing.”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9A662"/>
                </a:solidFill>
                <a:latin typeface="Consolas"/>
              </a:rPr>
              <a:t>RATIONALE: 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`any` silently disables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Consolas"/>
              </a:rPr>
              <a:t>type checking, letting errors reach prod.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E8837E"/>
                </a:solidFill>
                <a:latin typeface="Consolas"/>
              </a:rPr>
              <a:t>PERSONA: 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Software Engineer (Quality)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C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7315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ELIASSEN GROUP  ·  ENGINEERING CONSTITUTION v1.2.0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437376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6B6A"/>
                </a:solidFill>
                <a:latin typeface="Segoe UI"/>
              </a:rPr>
              <a:t>THE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240"/>
                </a:solidFill>
                <a:latin typeface="Georgia"/>
              </a:rPr>
              <a:t>The Ten Articles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280160" cy="3810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627632"/>
            <a:ext cx="11155680" cy="434340"/>
          </a:xfrm>
          <a:prstGeom prst="rect">
            <a:avLst/>
          </a:prstGeom>
          <a:solidFill>
            <a:srgbClr val="E9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207" y="1627632"/>
            <a:ext cx="502920" cy="4343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1627632"/>
            <a:ext cx="50292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627632"/>
            <a:ext cx="2743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C2240"/>
                </a:solidFill>
                <a:latin typeface="Segoe UI"/>
              </a:rPr>
              <a:t>Foundational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19" y="1627632"/>
            <a:ext cx="76809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Readable code, built-in quality, consistency, intentional architecture, security is everyone's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2084832"/>
            <a:ext cx="1115568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7" y="2084832"/>
            <a:ext cx="502920" cy="4343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2084832"/>
            <a:ext cx="50292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2084832"/>
            <a:ext cx="2743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C2240"/>
                </a:solidFill>
                <a:latin typeface="Segoe UI"/>
              </a:rPr>
              <a:t>Code Standards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19" y="2084832"/>
            <a:ext cx="76809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Naming, Prettier, no `any`, explicit return types, import order, single-purpose functions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7" y="2542032"/>
            <a:ext cx="11155680" cy="434340"/>
          </a:xfrm>
          <a:prstGeom prst="rect">
            <a:avLst/>
          </a:prstGeom>
          <a:solidFill>
            <a:srgbClr val="E9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7" y="2542032"/>
            <a:ext cx="502920" cy="4343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542032"/>
            <a:ext cx="50292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2542032"/>
            <a:ext cx="2743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C2240"/>
                </a:solidFill>
                <a:latin typeface="Segoe UI"/>
              </a:rPr>
              <a:t>Testing &amp;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19" y="2542032"/>
            <a:ext cx="76809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Canon TDD, coverage floors 80/100/70, AAA structure, isolation, no hollow tests, mutation testing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7" y="2999232"/>
            <a:ext cx="1115568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207" y="2999232"/>
            <a:ext cx="502920" cy="4343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" y="2999232"/>
            <a:ext cx="50292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2999232"/>
            <a:ext cx="2743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C2240"/>
                </a:solidFill>
                <a:latin typeface="Segoe UI"/>
              </a:rPr>
              <a:t>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19" y="2999232"/>
            <a:ext cx="76809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Modular monolith, SOLID, no cycles, sanctioned patterns, ADRs, resilience patterns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7" y="3456432"/>
            <a:ext cx="11155680" cy="434340"/>
          </a:xfrm>
          <a:prstGeom prst="rect">
            <a:avLst/>
          </a:prstGeom>
          <a:solidFill>
            <a:srgbClr val="E9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207" y="3456432"/>
            <a:ext cx="502920" cy="4343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" y="3456432"/>
            <a:ext cx="50292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19" y="3456432"/>
            <a:ext cx="2743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C2240"/>
                </a:solidFill>
                <a:latin typeface="Segoe UI"/>
              </a:rPr>
              <a:t>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19" y="3456432"/>
            <a:ext cx="76809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Input validation, parameterized queries, no secrets, established auth, dep hygiene, encryption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" y="3913632"/>
            <a:ext cx="1115568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1207" y="3913632"/>
            <a:ext cx="502920" cy="4343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7" y="3913632"/>
            <a:ext cx="50292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3913632"/>
            <a:ext cx="2743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C2240"/>
                </a:solidFill>
                <a:latin typeface="Segoe UI"/>
              </a:rPr>
              <a:t>Review &amp; Documentation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19" y="3913632"/>
            <a:ext cx="76809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Two approvals, inviolable gates, JSDoc, WHY-comments, docs travel with 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7" y="4370832"/>
            <a:ext cx="11155680" cy="434340"/>
          </a:xfrm>
          <a:prstGeom prst="rect">
            <a:avLst/>
          </a:prstGeom>
          <a:solidFill>
            <a:srgbClr val="E9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21207" y="4370832"/>
            <a:ext cx="502920" cy="4343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7" y="4370832"/>
            <a:ext cx="50292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19" y="4370832"/>
            <a:ext cx="2743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C2240"/>
                </a:solidFill>
                <a:latin typeface="Segoe UI"/>
              </a:rPr>
              <a:t>AI Governance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19" y="4370832"/>
            <a:ext cx="76809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Human accountability, data protection, audit trail, identical standards, escalate, code-health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7" y="4828032"/>
            <a:ext cx="1115568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1207" y="4828032"/>
            <a:ext cx="502920" cy="4343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7" y="4828032"/>
            <a:ext cx="50292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19" y="4828032"/>
            <a:ext cx="2743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C2240"/>
                </a:solidFill>
                <a:latin typeface="Segoe UI"/>
              </a:rPr>
              <a:t>Requirements &amp; Domain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19" y="4828032"/>
            <a:ext cx="76809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Acceptance criteria first, cited business rules, regulatory mapping, scope discipline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1207" y="5285232"/>
            <a:ext cx="11155680" cy="434340"/>
          </a:xfrm>
          <a:prstGeom prst="rect">
            <a:avLst/>
          </a:prstGeom>
          <a:solidFill>
            <a:srgbClr val="E9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1207" y="5285232"/>
            <a:ext cx="502920" cy="4343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1207" y="5285232"/>
            <a:ext cx="50292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88719" y="5285232"/>
            <a:ext cx="2743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C2240"/>
                </a:solidFill>
                <a:latin typeface="Segoe UI"/>
              </a:rPr>
              <a:t>Operations &amp; Cost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19" y="5285232"/>
            <a:ext cx="76809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IaC, reversible deploys, cost review, licenses, SLOs, error budgets, failure testing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207" y="5742432"/>
            <a:ext cx="11155680" cy="4343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1207" y="5742432"/>
            <a:ext cx="502920" cy="4343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7" y="5742432"/>
            <a:ext cx="50292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19" y="5742432"/>
            <a:ext cx="274320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C2240"/>
                </a:solidFill>
                <a:latin typeface="Segoe UI"/>
              </a:rPr>
              <a:t>Agentic Development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31919" y="5742432"/>
            <a:ext cx="7680960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Spec-driven agent work, verifiable completion, sandboxing, steering files, fresh-context review, workflows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C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6446520"/>
            <a:ext cx="7315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ELIASSEN GROUP  ·  ENGINEERING CONSTITUTION v1.2.0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446520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437376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6B6A"/>
                </a:solidFill>
                <a:latin typeface="Segoe UI"/>
              </a:rPr>
              <a:t>DAY TO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240"/>
                </a:solidFill>
                <a:latin typeface="Georgia"/>
              </a:rPr>
              <a:t>The hard rules you'll hit every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280160" cy="3810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7" y="1691640"/>
            <a:ext cx="361188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207" y="1691640"/>
            <a:ext cx="3611880" cy="40640"/>
          </a:xfrm>
          <a:prstGeom prst="rect">
            <a:avLst/>
          </a:prstGeom>
          <a:solidFill>
            <a:srgbClr val="0E7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1" y="18745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C2240"/>
                </a:solidFill>
                <a:latin typeface="Georgia"/>
              </a:rPr>
              <a:t>Naming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" y="2258568"/>
            <a:ext cx="3154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camelCase vars/functions, PascalCase types (no `I` prefix), UPPER_SNAKE constants, is/has/can booleans, kebab-case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1" y="278892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9ECF7"/>
          </a:solidFill>
          <a:ln w="9525">
            <a:solidFill>
              <a:srgbClr val="CCD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000" b="1">
                <a:solidFill>
                  <a:srgbClr val="2E3F95"/>
                </a:solidFill>
                <a:latin typeface="Segoe UI"/>
              </a:rPr>
              <a:t>LAW-2.1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7" y="1691640"/>
            <a:ext cx="361188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7" y="1691640"/>
            <a:ext cx="3611880" cy="40640"/>
          </a:xfrm>
          <a:prstGeom prst="rect">
            <a:avLst/>
          </a:prstGeom>
          <a:solidFill>
            <a:srgbClr val="0E7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8745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C2240"/>
                </a:solidFill>
                <a:latin typeface="Georgia"/>
              </a:rPr>
              <a:t>No `any`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258568"/>
            <a:ext cx="3154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Use `unknown` plus type narrowing. `any` silently disables type checking.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9431" y="278892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9ECF7"/>
          </a:solidFill>
          <a:ln w="9525">
            <a:solidFill>
              <a:srgbClr val="CCD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000" b="1">
                <a:solidFill>
                  <a:srgbClr val="2E3F95"/>
                </a:solidFill>
                <a:latin typeface="Segoe UI"/>
              </a:rPr>
              <a:t>LAW-2.3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2167" y="1691640"/>
            <a:ext cx="361188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02167" y="1691640"/>
            <a:ext cx="3611880" cy="40640"/>
          </a:xfrm>
          <a:prstGeom prst="rect">
            <a:avLst/>
          </a:prstGeom>
          <a:solidFill>
            <a:srgbClr val="0E7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1" y="187452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C2240"/>
                </a:solidFill>
                <a:latin typeface="Georgia"/>
              </a:rPr>
              <a:t>TDD-first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2258568"/>
            <a:ext cx="3154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Test list, one failing test at a time. Never delete, skip, or weaken a failing test to go green.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39911" y="278892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9ECF7"/>
          </a:solidFill>
          <a:ln w="9525">
            <a:solidFill>
              <a:srgbClr val="CCD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000" b="1">
                <a:solidFill>
                  <a:srgbClr val="2E3F95"/>
                </a:solidFill>
                <a:latin typeface="Segoe UI"/>
              </a:rPr>
              <a:t>LAW-3.1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7" y="3355848"/>
            <a:ext cx="361188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207" y="3355848"/>
            <a:ext cx="3611880" cy="40640"/>
          </a:xfrm>
          <a:prstGeom prst="rect">
            <a:avLst/>
          </a:prstGeom>
          <a:solidFill>
            <a:srgbClr val="0E7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1" y="353872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C2240"/>
                </a:solidFill>
                <a:latin typeface="Georgia"/>
              </a:rPr>
              <a:t>Coverage floors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" y="3922776"/>
            <a:ext cx="3154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80% overall, 100% utilities, 70% controllers. Never lower a threshold to pass a build.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1" y="445312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9ECF7"/>
          </a:solidFill>
          <a:ln w="9525">
            <a:solidFill>
              <a:srgbClr val="CCD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000" b="1">
                <a:solidFill>
                  <a:srgbClr val="2E3F95"/>
                </a:solidFill>
                <a:latin typeface="Segoe UI"/>
              </a:rPr>
              <a:t>LAW-3.2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7" y="3355848"/>
            <a:ext cx="361188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1687" y="3355848"/>
            <a:ext cx="3611880" cy="40640"/>
          </a:xfrm>
          <a:prstGeom prst="rect">
            <a:avLst/>
          </a:prstGeom>
          <a:solidFill>
            <a:srgbClr val="0E7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1" y="353872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C2240"/>
                </a:solidFill>
                <a:latin typeface="Georgia"/>
              </a:rPr>
              <a:t>Security basics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1" y="3922776"/>
            <a:ext cx="3154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Allowlist-validate all external input, parameterized queries only, no secrets in code or logs.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99431" y="445312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9ECF7"/>
          </a:solidFill>
          <a:ln w="9525">
            <a:solidFill>
              <a:srgbClr val="CCD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000" b="1">
                <a:solidFill>
                  <a:srgbClr val="2E3F95"/>
                </a:solidFill>
                <a:latin typeface="Segoe UI"/>
              </a:rPr>
              <a:t>Article 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02167" y="3355848"/>
            <a:ext cx="361188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02167" y="3355848"/>
            <a:ext cx="3611880" cy="40640"/>
          </a:xfrm>
          <a:prstGeom prst="rect">
            <a:avLst/>
          </a:prstGeom>
          <a:solidFill>
            <a:srgbClr val="0E7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9911" y="353872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C2240"/>
                </a:solidFill>
                <a:latin typeface="Georgia"/>
              </a:rPr>
              <a:t>Tag AI commits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1" y="3922776"/>
            <a:ext cx="31546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Mark AI-assisted commits [Claude-assisted] and fill the PR's AI Assistance section.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39911" y="4453128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9ECF7"/>
          </a:solidFill>
          <a:ln w="9525">
            <a:solidFill>
              <a:srgbClr val="CCD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wrap="none"/>
          <a:lstStyle/>
          <a:p>
            <a:pPr algn="ctr"/>
            <a:r>
              <a:rPr sz="1000" b="1">
                <a:solidFill>
                  <a:srgbClr val="2E3F95"/>
                </a:solidFill>
                <a:latin typeface="Segoe UI"/>
              </a:rPr>
              <a:t>LAW-7.3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C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7315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ELIASSEN GROUP  ·  ENGINEERING CONSTITUTION v1.2.0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33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9A662"/>
                </a:solidFill>
                <a:latin typeface="Segoe UI"/>
              </a:rPr>
              <a:t>THE LINE THAT DOESN'T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Before declaring any work done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606040"/>
            <a:ext cx="10607040" cy="1143000"/>
          </a:xfrm>
          <a:prstGeom prst="roundRect">
            <a:avLst/>
          </a:prstGeom>
          <a:solidFill>
            <a:srgbClr val="1C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60704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8FE3C4"/>
                </a:solidFill>
                <a:latin typeface="Consolas"/>
              </a:rPr>
              <a:t>npm run lint  &amp;&amp;  npm run type-check  &amp;&amp;  npm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6908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All three must pass. Quality gates have no override path (LAW-6.2).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D7DCF2"/>
                </a:solidFill>
                <a:latin typeface="Segoe UI"/>
              </a:rPr>
              <a:t>Two approvals to merge — including a domain expert (LAW-6.1). Your output is reviewed by a context that didn't produce it (LAW-10.5).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C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ELIASSEN GROUP  ·  ENGINEERING CONSTITUTION v1.2.0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437376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6B6A"/>
                </a:solidFill>
                <a:latin typeface="Segoe UI"/>
              </a:rPr>
              <a:t>HOW AI WORKS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240"/>
                </a:solidFill>
                <a:latin typeface="Georgia"/>
              </a:rPr>
              <a:t>Eight personas, each owning laws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280160" cy="3810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17E"/>
                </a:solidFill>
                <a:latin typeface="Segoe UI"/>
              </a:rPr>
              <a:t>AI agents assume a role with a mandate, owned laws, and bounded authority. Every persona decision cites laws.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" y="201168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2011680"/>
            <a:ext cx="2697480" cy="406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5" y="21945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C2240"/>
                </a:solidFill>
                <a:latin typeface="Georgia"/>
              </a:rPr>
              <a:t>Software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5" y="261518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Implementation (default)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5" y="31089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17E"/>
                </a:solidFill>
                <a:latin typeface="Segoe UI"/>
              </a:rPr>
              <a:t>Owns </a:t>
            </a:r>
            <a:r>
              <a:rPr sz="1000" b="1" i="0">
                <a:solidFill>
                  <a:srgbClr val="2E3F95"/>
                </a:solidFill>
                <a:latin typeface="Consolas"/>
              </a:rPr>
              <a:t>2.1–2.6, 10.1, 10.4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79" y="201168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79" y="2011680"/>
            <a:ext cx="2697480" cy="406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7" y="21945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C2240"/>
                </a:solidFill>
                <a:latin typeface="Georgia"/>
              </a:rPr>
              <a:t>Architect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7" y="261518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Design, patterns, ADRs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7" y="31089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17E"/>
                </a:solidFill>
                <a:latin typeface="Segoe UI"/>
              </a:rPr>
              <a:t>Owns </a:t>
            </a:r>
            <a:r>
              <a:rPr sz="1000" b="1" i="0">
                <a:solidFill>
                  <a:srgbClr val="2E3F95"/>
                </a:solidFill>
                <a:latin typeface="Consolas"/>
              </a:rPr>
              <a:t>4.1–4.6, 1.4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1" y="201168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1" y="2011680"/>
            <a:ext cx="2697480" cy="40640"/>
          </a:xfrm>
          <a:prstGeom prst="rect">
            <a:avLst/>
          </a:prstGeom>
          <a:solidFill>
            <a:srgbClr val="0E7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19" y="21945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C2240"/>
                </a:solidFill>
                <a:latin typeface="Georgia"/>
              </a:rPr>
              <a:t>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19" y="261518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Testing &amp; review standards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19" y="31089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17E"/>
                </a:solidFill>
                <a:latin typeface="Segoe UI"/>
              </a:rPr>
              <a:t>Owns </a:t>
            </a:r>
            <a:r>
              <a:rPr sz="1000" b="1" i="0">
                <a:solidFill>
                  <a:srgbClr val="2E3F95"/>
                </a:solidFill>
                <a:latin typeface="Consolas"/>
              </a:rPr>
              <a:t>3.1–3.6, 6.1, 6.2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07423" y="201168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07423" y="2011680"/>
            <a:ext cx="2697480" cy="40640"/>
          </a:xfrm>
          <a:prstGeom prst="rect">
            <a:avLst/>
          </a:prstGeom>
          <a:solidFill>
            <a:srgbClr val="B4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1" y="21945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C2240"/>
                </a:solidFill>
                <a:latin typeface="Georgia"/>
              </a:rPr>
              <a:t>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1" y="261518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Article 5 + AI data + 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1" y="31089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17E"/>
                </a:solidFill>
                <a:latin typeface="Segoe UI"/>
              </a:rPr>
              <a:t>Owns </a:t>
            </a:r>
            <a:r>
              <a:rPr sz="1000" b="1" i="0">
                <a:solidFill>
                  <a:srgbClr val="2E3F95"/>
                </a:solidFill>
                <a:latin typeface="Consolas"/>
              </a:rPr>
              <a:t>5.1–5.6, 10.3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7" y="374904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207" y="3749040"/>
            <a:ext cx="2697480" cy="40640"/>
          </a:xfrm>
          <a:prstGeom prst="rect">
            <a:avLst/>
          </a:prstGeom>
          <a:solidFill>
            <a:srgbClr val="253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5" y="39319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C2240"/>
                </a:solidFill>
                <a:latin typeface="Georgia"/>
              </a:rPr>
              <a:t>DevOps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5" y="435254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CI/CD, infra, reliability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5" y="48463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17E"/>
                </a:solidFill>
                <a:latin typeface="Segoe UI"/>
              </a:rPr>
              <a:t>Owns </a:t>
            </a:r>
            <a:r>
              <a:rPr sz="1000" b="1" i="0">
                <a:solidFill>
                  <a:srgbClr val="2E3F95"/>
                </a:solidFill>
                <a:latin typeface="Consolas"/>
              </a:rPr>
              <a:t>9.1, 9.2, 9.5–9.7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79" y="374904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83279" y="3749040"/>
            <a:ext cx="2697480" cy="40640"/>
          </a:xfrm>
          <a:prstGeom prst="rect">
            <a:avLst/>
          </a:prstGeom>
          <a:solidFill>
            <a:srgbClr val="D9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84447" y="39319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C2240"/>
                </a:solidFill>
                <a:latin typeface="Georgia"/>
              </a:rPr>
              <a:t>Product 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84447" y="435254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Requirements, scope, process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4447" y="48463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17E"/>
                </a:solidFill>
                <a:latin typeface="Segoe UI"/>
              </a:rPr>
              <a:t>Owns </a:t>
            </a:r>
            <a:r>
              <a:rPr sz="1000" b="1" i="0">
                <a:solidFill>
                  <a:srgbClr val="2E3F95"/>
                </a:solidFill>
                <a:latin typeface="Consolas"/>
              </a:rPr>
              <a:t>8.1, 8.4, 10.6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1" y="374904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45351" y="3749040"/>
            <a:ext cx="2697480" cy="4064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19" y="39319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C2240"/>
                </a:solidFill>
                <a:latin typeface="Georgia"/>
              </a:rPr>
              <a:t>Industry SME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19" y="435254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Domain rules, regulation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19" y="48463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17E"/>
                </a:solidFill>
                <a:latin typeface="Segoe UI"/>
              </a:rPr>
              <a:t>Owns </a:t>
            </a:r>
            <a:r>
              <a:rPr sz="1000" b="1" i="0">
                <a:solidFill>
                  <a:srgbClr val="2E3F95"/>
                </a:solidFill>
                <a:latin typeface="Consolas"/>
              </a:rPr>
              <a:t>8.2, 8.3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07423" y="3749040"/>
            <a:ext cx="269748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07423" y="3749040"/>
            <a:ext cx="2697480" cy="4064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08591" y="393192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C2240"/>
                </a:solidFill>
                <a:latin typeface="Georgia"/>
              </a:rPr>
              <a:t>FinOps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8591" y="435254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17E"/>
                </a:solidFill>
                <a:latin typeface="Segoe UI"/>
              </a:rPr>
              <a:t>Cost, licensing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08591" y="484632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17E"/>
                </a:solidFill>
                <a:latin typeface="Segoe UI"/>
              </a:rPr>
              <a:t>Owns </a:t>
            </a:r>
            <a:r>
              <a:rPr sz="1000" b="1" i="0">
                <a:solidFill>
                  <a:srgbClr val="2E3F95"/>
                </a:solidFill>
                <a:latin typeface="Consolas"/>
              </a:rPr>
              <a:t>9.3, 9.4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C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446520"/>
            <a:ext cx="7315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ELIASSEN GROUP  ·  ENGINEERING CONSTITUTION v1.2.0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437376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6B6A"/>
                </a:solidFill>
                <a:latin typeface="Segoe UI"/>
              </a:rPr>
              <a:t>WHEN PERSONAS CONFLICT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240"/>
                </a:solidFill>
                <a:latin typeface="Georgia"/>
              </a:rPr>
              <a:t>The authority ladder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280160" cy="3810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058400" cy="676656"/>
          </a:xfrm>
          <a:prstGeom prst="roundRect">
            <a:avLst/>
          </a:prstGeom>
          <a:solidFill>
            <a:srgbClr val="B4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95097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Security VETO</a:t>
            </a:r>
            <a:r>
              <a:rPr sz="1200" b="0" i="0">
                <a:solidFill>
                  <a:srgbClr val="F0F0F5"/>
                </a:solidFill>
                <a:latin typeface="Segoe UI"/>
              </a:rPr>
              <a:t>    CRITICAL findings — overridable only by a named human security lead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" y="2624328"/>
            <a:ext cx="9555480" cy="676656"/>
          </a:xfrm>
          <a:prstGeom prst="roundRect">
            <a:avLst/>
          </a:prstGeom>
          <a:solidFill>
            <a:srgbClr val="253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624328"/>
            <a:ext cx="90068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Architect VETO</a:t>
            </a:r>
            <a:r>
              <a:rPr sz="1200" b="0" i="0">
                <a:solidFill>
                  <a:srgbClr val="F0F0F5"/>
                </a:solidFill>
                <a:latin typeface="Segoe UI"/>
              </a:rPr>
              <a:t>    Layer violations, circular dependencies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43584" y="3465576"/>
            <a:ext cx="9052560" cy="676656"/>
          </a:xfrm>
          <a:prstGeom prst="round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17904" y="3465576"/>
            <a:ext cx="8503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Quality BLOCK</a:t>
            </a:r>
            <a:r>
              <a:rPr sz="1200" b="0" i="0">
                <a:solidFill>
                  <a:srgbClr val="F0F0F5"/>
                </a:solidFill>
                <a:latin typeface="Segoe UI"/>
              </a:rPr>
              <a:t>    Coverage floors, gate integrity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99616" y="4306824"/>
            <a:ext cx="8549640" cy="676656"/>
          </a:xfrm>
          <a:prstGeom prst="roundRect">
            <a:avLst/>
          </a:prstGeom>
          <a:solidFill>
            <a:srgbClr val="D9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73936" y="4306824"/>
            <a:ext cx="8001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DevOps / Product Owner BLOCK</a:t>
            </a:r>
            <a:r>
              <a:rPr sz="1200" b="0" i="0">
                <a:solidFill>
                  <a:srgbClr val="F0F0F5"/>
                </a:solidFill>
                <a:latin typeface="Segoe UI"/>
              </a:rPr>
              <a:t>    No-rollback deploys / missing acceptance criteria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55648" y="5148072"/>
            <a:ext cx="8046720" cy="676656"/>
          </a:xfrm>
          <a:prstGeom prst="round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9968" y="5148072"/>
            <a:ext cx="74980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Advisory: Industry SME, FinOps</a:t>
            </a:r>
            <a:r>
              <a:rPr sz="1200" b="0" i="0">
                <a:solidFill>
                  <a:srgbClr val="F0F0F5"/>
                </a:solidFill>
                <a:latin typeface="Segoe UI"/>
              </a:rPr>
              <a:t>    Advise only — FinOps subordinate to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17E"/>
                </a:solidFill>
                <a:latin typeface="Segoe UI"/>
              </a:rPr>
              <a:t>Cross-cutting work and unresolved conflicts go to the persona-council, which escalates to humans (LAW-7.5).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C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ELIASSEN GROUP  ·  ENGINEERING CONSTITUTION v1.2.0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437376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6B6A"/>
                </a:solidFill>
                <a:latin typeface="Segoe UI"/>
              </a:rPr>
              <a:t>HOW WORK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240"/>
                </a:solidFill>
                <a:latin typeface="Georgia"/>
              </a:rPr>
              <a:t>Defined workflows (LAW-10.6)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280160" cy="3810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48132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17E"/>
                </a:solidFill>
                <a:latin typeface="Segoe UI"/>
              </a:rPr>
              <a:t>Nontrivial work follows a declared, staged persona chain. Hard stages are never skippable; other deviations are allowed when asked — and recorded.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" y="214884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2148840"/>
            <a:ext cx="3611880" cy="406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1" y="238658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C2240"/>
                </a:solidFill>
                <a:latin typeface="Consolas"/>
              </a:rPr>
              <a:t>WF-FEATURE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" y="2880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Build new functionality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7" y="214884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7" y="2148840"/>
            <a:ext cx="3611880" cy="40640"/>
          </a:xfrm>
          <a:prstGeom prst="rect">
            <a:avLst/>
          </a:prstGeom>
          <a:solidFill>
            <a:srgbClr val="0E7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238658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C2240"/>
                </a:solidFill>
                <a:latin typeface="Consolas"/>
              </a:rPr>
              <a:t>WF-RESEARCH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880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Investigate before committing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2167" y="214884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02167" y="2148840"/>
            <a:ext cx="3611880" cy="40640"/>
          </a:xfrm>
          <a:prstGeom prst="rect">
            <a:avLst/>
          </a:prstGeom>
          <a:solidFill>
            <a:srgbClr val="D96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1" y="238658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C2240"/>
                </a:solidFill>
                <a:latin typeface="Consolas"/>
              </a:rPr>
              <a:t>WF-BUG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1" y="2880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Diagnose and fix defects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7" y="374904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7" y="3749040"/>
            <a:ext cx="3611880" cy="40640"/>
          </a:xfrm>
          <a:prstGeom prst="rect">
            <a:avLst/>
          </a:prstGeom>
          <a:solidFill>
            <a:srgbClr val="B42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1" y="398678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C2240"/>
                </a:solidFill>
                <a:latin typeface="Consolas"/>
              </a:rPr>
              <a:t>WF-SECBUG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" y="44805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Security-sensitive fixes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61687" y="374904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1687" y="3749040"/>
            <a:ext cx="3611880" cy="40640"/>
          </a:xfrm>
          <a:prstGeom prst="rect">
            <a:avLst/>
          </a:prstGeom>
          <a:solidFill>
            <a:srgbClr val="253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398678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C2240"/>
                </a:solidFill>
                <a:latin typeface="Consolas"/>
              </a:rPr>
              <a:t>WF-REFACTOR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1" y="44805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Improve without behavior change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02167" y="374904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02167" y="3749040"/>
            <a:ext cx="3611880" cy="4064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1" y="3986784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C2240"/>
                </a:solidFill>
                <a:latin typeface="Consolas"/>
              </a:rPr>
              <a:t>WF-AMENDMENT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1" y="44805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Change the constitution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C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7315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ELIASSEN GROUP  ·  ENGINEERING CONSTITUTION v1.2.0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437376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6B6A"/>
                </a:solidFill>
                <a:latin typeface="Segoe UI"/>
              </a:rPr>
              <a:t>ARTICLE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240"/>
                </a:solidFill>
                <a:latin typeface="Georgia"/>
              </a:rPr>
              <a:t>AI governance: trust, but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280160" cy="3810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7" y="1737360"/>
            <a:ext cx="54406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21207" y="1737360"/>
            <a:ext cx="5440680" cy="406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39" y="192024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C2240"/>
                </a:solidFill>
                <a:latin typeface="Georgia"/>
              </a:rPr>
              <a:t>Human accountability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39" y="2304288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A named human owns every AI-assisted change (LAW-7.1).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7" y="1737360"/>
            <a:ext cx="54406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7" y="1737360"/>
            <a:ext cx="5440680" cy="406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39" y="192024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C2240"/>
                </a:solidFill>
                <a:latin typeface="Georgia"/>
              </a:rPr>
              <a:t>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39" y="2304288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Tag commits [Claude-assisted]; fill the PR AI section (LAW-7.3).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7" y="3108960"/>
            <a:ext cx="54406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7" y="3108960"/>
            <a:ext cx="5440680" cy="406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39" y="329184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C2240"/>
                </a:solidFill>
                <a:latin typeface="Georgia"/>
              </a:rPr>
              <a:t>Identical standards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39" y="3675888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AI code meets the same laws as human code (LAW-7.4).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7" y="3108960"/>
            <a:ext cx="54406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7" y="3108960"/>
            <a:ext cx="5440680" cy="406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39" y="329184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C2240"/>
                </a:solidFill>
                <a:latin typeface="Georgia"/>
              </a:rPr>
              <a:t>Escalate on uncertainty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39" y="3675888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Ambiguous requirements &amp; security questions go to humans (LAW-7.5).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7" y="4480560"/>
            <a:ext cx="54406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1207" y="4480560"/>
            <a:ext cx="5440680" cy="406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39" y="466344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C2240"/>
                </a:solidFill>
                <a:latin typeface="Georgia"/>
              </a:rPr>
              <a:t>Data &amp; IP protection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39" y="5047488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Protect client IP and data in every AI interaction (LAW-7.2).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7" y="4480560"/>
            <a:ext cx="544068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6207" y="4480560"/>
            <a:ext cx="5440680" cy="40640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39" y="4663440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C2240"/>
                </a:solidFill>
                <a:latin typeface="Georgia"/>
              </a:rPr>
              <a:t>Code-health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39" y="5047488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17E"/>
                </a:solidFill>
                <a:latin typeface="Segoe UI"/>
              </a:rPr>
              <a:t>Track AI-era health signals, not just velocity (LAW-7.6).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C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7315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ELIASSEN GROUP  ·  ENGINEERING CONSTITUTION v1.2.0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437376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6B6A"/>
                </a:solidFill>
                <a:latin typeface="Segoe UI"/>
              </a:rPr>
              <a:t>LIVING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240"/>
                </a:solidFill>
                <a:latin typeface="Georgia"/>
              </a:rPr>
              <a:t>How the constitution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280160" cy="3810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C2240"/>
                </a:solidFill>
                <a:latin typeface="Segoe UI"/>
              </a:rPr>
              <a:t>Laws change only through the five-stage amendment process — every change recorded with rationale, approver, and 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1874519" cy="914400"/>
          </a:xfrm>
          <a:prstGeom prst="round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8745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A662"/>
                </a:solidFill>
                <a:latin typeface="Segoe UI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2651760"/>
            <a:ext cx="320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E3F95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2651760"/>
            <a:ext cx="1874519" cy="914400"/>
          </a:xfrm>
          <a:prstGeom prst="round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39" y="2651760"/>
            <a:ext cx="18745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A662"/>
                </a:solidFill>
                <a:latin typeface="Segoe UI"/>
              </a:rPr>
              <a:t>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8" y="2651760"/>
            <a:ext cx="320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E3F95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198" y="2651760"/>
            <a:ext cx="1874519" cy="914400"/>
          </a:xfrm>
          <a:prstGeom prst="round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198" y="2651760"/>
            <a:ext cx="18745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A662"/>
                </a:solidFill>
                <a:latin typeface="Segoe UI"/>
              </a:rPr>
              <a:t>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17" y="2651760"/>
            <a:ext cx="320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E3F95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57" y="2651760"/>
            <a:ext cx="1874519" cy="914400"/>
          </a:xfrm>
          <a:prstGeom prst="round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7" y="2651760"/>
            <a:ext cx="18745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A662"/>
                </a:solidFill>
                <a:latin typeface="Segoe UI"/>
              </a:rPr>
              <a:t>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Enactment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76" y="2651760"/>
            <a:ext cx="320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E3F95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16" y="2651760"/>
            <a:ext cx="1874519" cy="914400"/>
          </a:xfrm>
          <a:prstGeom prst="roundRect">
            <a:avLst/>
          </a:prstGeom>
          <a:solidFill>
            <a:srgbClr val="0E7C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6" y="2651760"/>
            <a:ext cx="18745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A662"/>
                </a:solidFill>
                <a:latin typeface="Segoe UI"/>
              </a:rPr>
              <a:t>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Propagation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6908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B617E"/>
                </a:solidFill>
                <a:latin typeface="Segoe UI"/>
              </a:rPr>
              <a:t>•  Rejected amendments are kept — with their rejection rationale.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B617E"/>
                </a:solidFill>
                <a:latin typeface="Segoe UI"/>
              </a:rPr>
              <a:t>•  Repealed laws are never deleted; they stay citable for historical decisions.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B617E"/>
                </a:solidFill>
                <a:latin typeface="Segoe UI"/>
              </a:rPr>
              <a:t>•  The law-integrity CI workflow fails any PR that changes a law without an amendment record.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C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7315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ELIASSEN GROUP  ·  ENGINEERING CONSTITUTION v1.2.0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C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437376"/>
          </a:xfrm>
          <a:prstGeom prst="rect">
            <a:avLst/>
          </a:prstGeom>
          <a:solidFill>
            <a:srgbClr val="2E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D96B6A"/>
                </a:solidFill>
                <a:latin typeface="Segoe UI"/>
              </a:rPr>
              <a:t>YOUR FIRST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C2240"/>
                </a:solidFill>
                <a:latin typeface="Georgia"/>
              </a:rPr>
              <a:t>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89888"/>
            <a:ext cx="1280160" cy="3810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21207" y="1737360"/>
            <a:ext cx="640080" cy="640080"/>
          </a:xfrm>
          <a:prstGeom prst="ellipse">
            <a:avLst/>
          </a:prstGeom>
          <a:solidFill>
            <a:srgbClr val="E88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1737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1719072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2240"/>
                </a:solidFill>
                <a:latin typeface="Georgia"/>
              </a:rPr>
              <a:t>Read why it exists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213969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17E"/>
                </a:solidFill>
                <a:latin typeface="Segoe UI"/>
              </a:rPr>
              <a:t>The six pain points and the citable-law model — the 10-minute setup in the training app.</a:t>
            </a:r>
          </a:p>
        </p:txBody>
      </p:sp>
      <p:sp>
        <p:nvSpPr>
          <p:cNvPr id="10" name="Oval 9"/>
          <p:cNvSpPr/>
          <p:nvPr/>
        </p:nvSpPr>
        <p:spPr>
          <a:xfrm>
            <a:off x="521207" y="2761488"/>
            <a:ext cx="640080" cy="640080"/>
          </a:xfrm>
          <a:prstGeom prst="ellipse">
            <a:avLst/>
          </a:prstGeom>
          <a:solidFill>
            <a:srgbClr val="E88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27614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274320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2240"/>
                </a:solidFill>
                <a:latin typeface="Georgia"/>
              </a:rPr>
              <a:t>Skim the Ten Articles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316382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17E"/>
                </a:solidFill>
                <a:latin typeface="Segoe UI"/>
              </a:rPr>
              <a:t>You don't need to memorize 45 laws. Know the map; cite by ID when it matters.</a:t>
            </a:r>
          </a:p>
        </p:txBody>
      </p:sp>
      <p:sp>
        <p:nvSpPr>
          <p:cNvPr id="14" name="Oval 13"/>
          <p:cNvSpPr/>
          <p:nvPr/>
        </p:nvSpPr>
        <p:spPr>
          <a:xfrm>
            <a:off x="521207" y="3785616"/>
            <a:ext cx="640080" cy="640080"/>
          </a:xfrm>
          <a:prstGeom prst="ellipse">
            <a:avLst/>
          </a:prstGeom>
          <a:solidFill>
            <a:srgbClr val="E88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" y="378561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3767328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2240"/>
                </a:solidFill>
                <a:latin typeface="Georgia"/>
              </a:rPr>
              <a:t>Look laws up on 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41879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5337C"/>
                </a:solidFill>
                <a:latin typeface="Consolas"/>
              </a:rPr>
              <a:t>./scripts/law-lookup.sh LAW-2.3  —  or browse docs/constitution/REGISTRY.md.</a:t>
            </a:r>
          </a:p>
        </p:txBody>
      </p:sp>
      <p:sp>
        <p:nvSpPr>
          <p:cNvPr id="18" name="Oval 17"/>
          <p:cNvSpPr/>
          <p:nvPr/>
        </p:nvSpPr>
        <p:spPr>
          <a:xfrm>
            <a:off x="521207" y="4809744"/>
            <a:ext cx="640080" cy="640080"/>
          </a:xfrm>
          <a:prstGeom prst="ellipse">
            <a:avLst/>
          </a:prstGeom>
          <a:solidFill>
            <a:srgbClr val="E88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480974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4791456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2240"/>
                </a:solidFill>
                <a:latin typeface="Georgia"/>
              </a:rPr>
              <a:t>Let personas + workflows guide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7" y="5212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17E"/>
                </a:solidFill>
                <a:latin typeface="Segoe UI"/>
              </a:rPr>
              <a:t>Assume the matching persona; follow the declared workflow for nontrivial work.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C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73152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ELIASSEN GROUP  ·  ENGINEERING CONSTITUTION v1.2.0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9BED6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F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253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86000"/>
            <a:ext cx="2011680" cy="38100"/>
          </a:xfrm>
          <a:prstGeom prst="rect">
            <a:avLst/>
          </a:prstGeom>
          <a:solidFill>
            <a:srgbClr val="C9A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Make quality systematic,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E8837E"/>
                </a:solidFill>
                <a:latin typeface="Georgia"/>
              </a:rPr>
              <a:t>not heroic.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D7DCF2"/>
                </a:solidFill>
                <a:latin typeface="Segoe UI"/>
              </a:rPr>
              <a:t>Numbered. Versioned. Citable. Enforced. Binding on humans and AI alike.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B9BED6"/>
                </a:solidFill>
                <a:latin typeface="Segoe UI"/>
              </a:rPr>
              <a:t>Eliassen Group Engineering Constitution  ·  v1.2.0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